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6" d="100"/>
          <a:sy n="116" d="100"/>
        </p:scale>
        <p:origin x="677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7C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818120" y="-457200"/>
            <a:ext cx="5303520" cy="7589520"/>
          </a:xfrm>
          <a:prstGeom prst="roundRect">
            <a:avLst>
              <a:gd name="adj" fmla="val 13000"/>
            </a:avLst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366760" y="1298448"/>
            <a:ext cx="2788920" cy="22860"/>
          </a:xfrm>
          <a:prstGeom prst="rect">
            <a:avLst/>
          </a:prstGeom>
          <a:solidFill>
            <a:srgbClr val="27C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659368" y="1591056"/>
            <a:ext cx="2788920" cy="22860"/>
          </a:xfrm>
          <a:prstGeom prst="rect">
            <a:avLst/>
          </a:prstGeom>
          <a:solidFill>
            <a:srgbClr val="438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951976" y="1883664"/>
            <a:ext cx="2788920" cy="22860"/>
          </a:xfrm>
          <a:prstGeom prst="rect">
            <a:avLst/>
          </a:prstGeom>
          <a:solidFill>
            <a:srgbClr val="27C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244584" y="2176272"/>
            <a:ext cx="2788920" cy="22860"/>
          </a:xfrm>
          <a:prstGeom prst="rect">
            <a:avLst/>
          </a:prstGeom>
          <a:solidFill>
            <a:srgbClr val="438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37192" y="2468880"/>
            <a:ext cx="2788920" cy="22860"/>
          </a:xfrm>
          <a:prstGeom prst="rect">
            <a:avLst/>
          </a:prstGeom>
          <a:solidFill>
            <a:srgbClr val="27C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829800" y="2761488"/>
            <a:ext cx="2788920" cy="22860"/>
          </a:xfrm>
          <a:prstGeom prst="rect">
            <a:avLst/>
          </a:prstGeom>
          <a:solidFill>
            <a:srgbClr val="438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122408" y="3054096"/>
            <a:ext cx="2788920" cy="22860"/>
          </a:xfrm>
          <a:prstGeom prst="rect">
            <a:avLst/>
          </a:prstGeom>
          <a:solidFill>
            <a:srgbClr val="27C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" y="5943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7C9CF"/>
                </a:solidFill>
                <a:latin typeface="Aptos"/>
              </a:defRPr>
            </a:pPr>
            <a:r>
              <a:t>IA NAVA  |  INTELLIGENCE ARTIFICIELLE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618488"/>
            <a:ext cx="71323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800" b="1">
                <a:solidFill>
                  <a:srgbClr val="F4F9FC"/>
                </a:solidFill>
                <a:latin typeface="Aptos"/>
              </a:defRPr>
            </a:pPr>
            <a:r>
              <a:t>NAVA 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761488"/>
            <a:ext cx="6766560" cy="107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0">
                <a:solidFill>
                  <a:srgbClr val="F4F9FC"/>
                </a:solidFill>
                <a:latin typeface="Aptos"/>
              </a:defRPr>
            </a:pPr>
            <a:r>
              <a:t>L’assistant de traitement des emails professionnels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4206240"/>
            <a:ext cx="6675120" cy="10424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0">
                <a:solidFill>
                  <a:srgbClr val="97A9C0"/>
                </a:solidFill>
                <a:latin typeface="Aptos"/>
              </a:defRPr>
            </a:pPr>
            <a:r>
              <a:t>Analyse • Exécution multi-actions • Livrables • Agenda • Brouillon sécurisé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5705856"/>
            <a:ext cx="2971800" cy="347472"/>
          </a:xfrm>
          <a:prstGeom prst="roundRect">
            <a:avLst>
              <a:gd name="adj" fmla="val 13000"/>
            </a:avLst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5774436"/>
            <a:ext cx="2752344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7BE5E"/>
                </a:solidFill>
                <a:latin typeface="Aptos"/>
              </a:defRPr>
            </a:pPr>
            <a:r>
              <a:t>DÉMONSTRATEUR EN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62872" y="621792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97A9C0"/>
                </a:solidFill>
                <a:latin typeface="Aptos"/>
              </a:defRPr>
            </a:pPr>
            <a:r>
              <a:t>29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C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7C9CF"/>
                </a:solidFill>
                <a:latin typeface="Aptos"/>
              </a:defRPr>
            </a:pPr>
            <a:r>
              <a:t>IA NAVA  /  NAVA 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97A9C0"/>
                </a:solidFill>
                <a:latin typeface="Aptos"/>
              </a:defRPr>
            </a:pPr>
            <a:r>
              <a:t>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804672"/>
            <a:ext cx="110185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F4F9FC"/>
                </a:solidFill>
                <a:latin typeface="Aptos"/>
              </a:defRPr>
            </a:pPr>
            <a:r>
              <a:t>Un email. Plusieurs tâches. Un seul circuit.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2704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0">
                <a:solidFill>
                  <a:srgbClr val="97A9C0"/>
                </a:solidFill>
                <a:latin typeface="Aptos"/>
              </a:defRPr>
            </a:pPr>
            <a:r>
              <a:t>NAVA Mail transforme une demande professionnelle en opérations suivies et vérifiables.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" y="6419088"/>
            <a:ext cx="11018520" cy="10972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" y="6501384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0">
                <a:solidFill>
                  <a:srgbClr val="97A9C0"/>
                </a:solidFill>
                <a:latin typeface="Aptos"/>
              </a:defRPr>
            </a:pPr>
            <a:r>
              <a:t>NAVA MAIL  •  ÉTAT AU 29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0">
                <a:solidFill>
                  <a:srgbClr val="97A9C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2304288"/>
            <a:ext cx="3547872" cy="3081528"/>
          </a:xfrm>
          <a:prstGeom prst="roundRect">
            <a:avLst>
              <a:gd name="adj" fmla="val 13000"/>
            </a:avLst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13816" y="2532888"/>
            <a:ext cx="54864" cy="365760"/>
          </a:xfrm>
          <a:prstGeom prst="roundRect">
            <a:avLst>
              <a:gd name="adj" fmla="val 13000"/>
            </a:avLst>
          </a:prstGeom>
          <a:solidFill>
            <a:srgbClr val="27C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3272" y="2523744"/>
            <a:ext cx="293522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F4F9FC"/>
                </a:solidFill>
                <a:latin typeface="Aptos"/>
              </a:defRPr>
            </a:pPr>
            <a:r>
              <a:t>Comprendre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236976"/>
            <a:ext cx="2999232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0">
                <a:solidFill>
                  <a:srgbClr val="97A9C0"/>
                </a:solidFill>
                <a:latin typeface="Aptos"/>
              </a:defRPr>
            </a:pPr>
            <a:r>
              <a:t>Lecture du message, de son contexte et des pièces jointes pour identifier chaque demande.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2304288"/>
            <a:ext cx="3547872" cy="3081528"/>
          </a:xfrm>
          <a:prstGeom prst="roundRect">
            <a:avLst>
              <a:gd name="adj" fmla="val 13000"/>
            </a:avLst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17136" y="2532888"/>
            <a:ext cx="54864" cy="365760"/>
          </a:xfrm>
          <a:prstGeom prst="roundRect">
            <a:avLst>
              <a:gd name="adj" fmla="val 13000"/>
            </a:avLst>
          </a:prstGeom>
          <a:solidFill>
            <a:srgbClr val="438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36592" y="2523744"/>
            <a:ext cx="293522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F4F9FC"/>
                </a:solidFill>
                <a:latin typeface="Aptos"/>
              </a:defRPr>
            </a:pPr>
            <a:r>
              <a:t>Exécuter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3236976"/>
            <a:ext cx="2999232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0">
                <a:solidFill>
                  <a:srgbClr val="97A9C0"/>
                </a:solidFill>
                <a:latin typeface="Aptos"/>
              </a:defRPr>
            </a:pPr>
            <a:r>
              <a:t>Planification des actions : documents, devis, synthèses, agenda et tâches associées.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1" y="2304288"/>
            <a:ext cx="3547872" cy="3081528"/>
          </a:xfrm>
          <a:prstGeom prst="roundRect">
            <a:avLst>
              <a:gd name="adj" fmla="val 13000"/>
            </a:avLst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29600" y="2532888"/>
            <a:ext cx="54864" cy="365760"/>
          </a:xfrm>
          <a:prstGeom prst="roundRect">
            <a:avLst>
              <a:gd name="adj" fmla="val 13000"/>
            </a:avLst>
          </a:prstGeom>
          <a:solidFill>
            <a:srgbClr val="5ED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49056" y="2523744"/>
            <a:ext cx="293522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F4F9FC"/>
                </a:solidFill>
                <a:latin typeface="Aptos"/>
              </a:defRPr>
            </a:pPr>
            <a:r>
              <a:t>Restituer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3236976"/>
            <a:ext cx="2999232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0">
                <a:solidFill>
                  <a:srgbClr val="97A9C0"/>
                </a:solidFill>
                <a:latin typeface="Aptos"/>
              </a:defRPr>
            </a:pPr>
            <a:r>
              <a:t>Réponse complète, livrables et suivi des actions ; envoi automatique possible en mode Auto.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C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7C9CF"/>
                </a:solidFill>
                <a:latin typeface="Aptos"/>
              </a:defRPr>
            </a:pPr>
            <a:r>
              <a:t>IA NAVA  /  NAVA 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97A9C0"/>
                </a:solidFill>
                <a:latin typeface="Aptos"/>
              </a:defRPr>
            </a:pPr>
            <a:r>
              <a:t>PARCOURS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804672"/>
            <a:ext cx="110185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F4F9FC"/>
                </a:solidFill>
                <a:latin typeface="Aptos"/>
              </a:defRPr>
            </a:pPr>
            <a:r>
              <a:t>Du mail reçu au traitement et à la réponse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2704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0">
                <a:solidFill>
                  <a:srgbClr val="97A9C0"/>
                </a:solidFill>
                <a:latin typeface="Aptos"/>
              </a:defRPr>
            </a:pPr>
            <a:r>
              <a:t>Un parcours unique, quels que soient le secteur d’activité et la complexité du message.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" y="6419088"/>
            <a:ext cx="11018520" cy="10972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" y="6501384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0">
                <a:solidFill>
                  <a:srgbClr val="97A9C0"/>
                </a:solidFill>
                <a:latin typeface="Aptos"/>
              </a:defRPr>
            </a:pPr>
            <a:r>
              <a:t>NAVA MAIL  •  ÉTAT AU 29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0">
                <a:solidFill>
                  <a:srgbClr val="97A9C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70632"/>
            <a:ext cx="1700784" cy="1298448"/>
          </a:xfrm>
          <a:prstGeom prst="roundRect">
            <a:avLst>
              <a:gd name="adj" fmla="val 13000"/>
            </a:avLst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2907792"/>
            <a:ext cx="411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7C9C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364992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4F9FC"/>
                </a:solidFill>
                <a:latin typeface="Aptos"/>
              </a:defRPr>
            </a:pPr>
            <a:r>
              <a:t>Email reçu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95144" y="3154680"/>
            <a:ext cx="182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27C9CF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87168" y="2770632"/>
            <a:ext cx="1700784" cy="1298448"/>
          </a:xfrm>
          <a:prstGeom prst="roundRect">
            <a:avLst>
              <a:gd name="adj" fmla="val 13000"/>
            </a:avLst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06040" y="2907792"/>
            <a:ext cx="411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7C9C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364992"/>
            <a:ext cx="150876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4F9FC"/>
                </a:solidFill>
                <a:latin typeface="Aptos"/>
              </a:defRPr>
            </a:pPr>
            <a:r>
              <a:rPr sz="1600" dirty="0" err="1"/>
              <a:t>Compréhension</a:t>
            </a:r>
            <a:endParaRPr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4233672" y="3154680"/>
            <a:ext cx="182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27C9CF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5696" y="2770632"/>
            <a:ext cx="1700784" cy="1298448"/>
          </a:xfrm>
          <a:prstGeom prst="roundRect">
            <a:avLst>
              <a:gd name="adj" fmla="val 13000"/>
            </a:avLst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44568" y="2907792"/>
            <a:ext cx="411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7C9C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3364992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4F9FC"/>
                </a:solidFill>
                <a:latin typeface="Aptos"/>
              </a:defRPr>
            </a:pPr>
            <a:r>
              <a:rPr dirty="0"/>
              <a:t>Plan multi-actions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154680"/>
            <a:ext cx="182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27C9CF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64224" y="2770632"/>
            <a:ext cx="1700784" cy="1298448"/>
          </a:xfrm>
          <a:prstGeom prst="roundRect">
            <a:avLst>
              <a:gd name="adj" fmla="val 13000"/>
            </a:avLst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83096" y="2907792"/>
            <a:ext cx="411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7C9C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3096" y="3364992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4F9FC"/>
                </a:solidFill>
                <a:latin typeface="Aptos"/>
              </a:defRPr>
            </a:pPr>
            <a:r>
              <a:t>Exécution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0727" y="3154680"/>
            <a:ext cx="182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27C9CF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02752" y="2770632"/>
            <a:ext cx="1700784" cy="1298448"/>
          </a:xfrm>
          <a:prstGeom prst="roundRect">
            <a:avLst>
              <a:gd name="adj" fmla="val 13000"/>
            </a:avLst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21624" y="2907792"/>
            <a:ext cx="411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7C9C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1624" y="3364992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4F9FC"/>
                </a:solidFill>
                <a:latin typeface="Aptos"/>
              </a:defRPr>
            </a:pPr>
            <a:r>
              <a:t>Preuves et contrôle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49256" y="3154680"/>
            <a:ext cx="182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27C9CF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41280" y="2770632"/>
            <a:ext cx="1700784" cy="1298448"/>
          </a:xfrm>
          <a:prstGeom prst="roundRect">
            <a:avLst>
              <a:gd name="adj" fmla="val 13000"/>
            </a:avLst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360152" y="2907792"/>
            <a:ext cx="411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7C9C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60152" y="3364992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4F9FC"/>
                </a:solidFill>
                <a:latin typeface="Aptos"/>
              </a:defRPr>
            </a:pPr>
            <a:r>
              <a:t>Réponse + PJ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745736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0">
                <a:solidFill>
                  <a:srgbClr val="97A9C0"/>
                </a:solidFill>
                <a:latin typeface="Aptos"/>
              </a:defRPr>
            </a:pPr>
            <a:r>
              <a:t>Chaque action possède un résultat vérifiable : réalisée, en attente, bloquée ou à corriger.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C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7C9CF"/>
                </a:solidFill>
                <a:latin typeface="Aptos"/>
              </a:defRPr>
            </a:pPr>
            <a:r>
              <a:t>IA NAVA  /  NAVA 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97A9C0"/>
                </a:solidFill>
                <a:latin typeface="Aptos"/>
              </a:defRPr>
            </a:pPr>
            <a:r>
              <a:t>CAPACITÉS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804672"/>
            <a:ext cx="110185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F4F9FC"/>
                </a:solidFill>
                <a:latin typeface="Aptos"/>
              </a:defRPr>
            </a:pPr>
            <a:r>
              <a:t>Des capacités adaptées à chaque demande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2704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0">
                <a:solidFill>
                  <a:srgbClr val="97A9C0"/>
                </a:solidFill>
                <a:latin typeface="Aptos"/>
              </a:defRPr>
            </a:pPr>
            <a:r>
              <a:t>Le format de sortie et les opérations dépendent de la demande et des livrables attendus.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" y="6419088"/>
            <a:ext cx="11018520" cy="10972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" y="6501384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0">
                <a:solidFill>
                  <a:srgbClr val="97A9C0"/>
                </a:solidFill>
                <a:latin typeface="Aptos"/>
              </a:defRPr>
            </a:pPr>
            <a:r>
              <a:t>NAVA MAIL  •  ÉTAT AU 29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0">
                <a:solidFill>
                  <a:srgbClr val="97A9C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2148840"/>
            <a:ext cx="3639312" cy="1773936"/>
          </a:xfrm>
          <a:prstGeom prst="roundRect">
            <a:avLst>
              <a:gd name="adj" fmla="val 13000"/>
            </a:avLst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4672" y="2377440"/>
            <a:ext cx="54864" cy="365760"/>
          </a:xfrm>
          <a:prstGeom prst="roundRect">
            <a:avLst>
              <a:gd name="adj" fmla="val 13000"/>
            </a:avLst>
          </a:prstGeom>
          <a:solidFill>
            <a:srgbClr val="27C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2368296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F4F9FC"/>
                </a:solidFill>
                <a:latin typeface="Aptos"/>
              </a:defRPr>
            </a:pPr>
            <a:r>
              <a:t>Documents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081528"/>
            <a:ext cx="3090672" cy="7498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0">
                <a:solidFill>
                  <a:srgbClr val="97A9C0"/>
                </a:solidFill>
                <a:latin typeface="Aptos"/>
              </a:defRPr>
            </a:pPr>
            <a:r>
              <a:t>Word, Excel, PDF et PowerPoint selon le besoin, le format et les traitements pris en charge.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3984" y="2148840"/>
            <a:ext cx="3639312" cy="1773936"/>
          </a:xfrm>
          <a:prstGeom prst="roundRect">
            <a:avLst>
              <a:gd name="adj" fmla="val 13000"/>
            </a:avLst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645152" y="2377440"/>
            <a:ext cx="54864" cy="365760"/>
          </a:xfrm>
          <a:prstGeom prst="roundRect">
            <a:avLst>
              <a:gd name="adj" fmla="val 13000"/>
            </a:avLst>
          </a:prstGeom>
          <a:solidFill>
            <a:srgbClr val="438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64608" y="2368296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F4F9FC"/>
                </a:solidFill>
                <a:latin typeface="Aptos"/>
              </a:defRPr>
            </a:pPr>
            <a:r>
              <a:t>Synthèses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8304" y="3081528"/>
            <a:ext cx="3090672" cy="7498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0">
                <a:solidFill>
                  <a:srgbClr val="97A9C0"/>
                </a:solidFill>
                <a:latin typeface="Aptos"/>
              </a:defRPr>
            </a:pPr>
            <a:r>
              <a:t>Analyse des contenus et restitution des travaux réellement réalisés.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84464" y="2148840"/>
            <a:ext cx="3639312" cy="1773936"/>
          </a:xfrm>
          <a:prstGeom prst="roundRect">
            <a:avLst>
              <a:gd name="adj" fmla="val 13000"/>
            </a:avLst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85632" y="2377440"/>
            <a:ext cx="54864" cy="365760"/>
          </a:xfrm>
          <a:prstGeom prst="roundRect">
            <a:avLst>
              <a:gd name="adj" fmla="val 13000"/>
            </a:avLst>
          </a:prstGeom>
          <a:solidFill>
            <a:srgbClr val="5ED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05088" y="2368296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F4F9FC"/>
                </a:solidFill>
                <a:latin typeface="Aptos"/>
              </a:defRPr>
            </a:pPr>
            <a:r>
              <a:t>Devis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58784" y="3081528"/>
            <a:ext cx="3090672" cy="7498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0">
                <a:solidFill>
                  <a:srgbClr val="97A9C0"/>
                </a:solidFill>
                <a:latin typeface="Aptos"/>
              </a:defRPr>
            </a:pPr>
            <a:r>
              <a:t>Préparation de devis, sans fabrication de prix non disponibles.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4087368"/>
            <a:ext cx="3639312" cy="1773936"/>
          </a:xfrm>
          <a:prstGeom prst="roundRect">
            <a:avLst>
              <a:gd name="adj" fmla="val 13000"/>
            </a:avLst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04672" y="4315968"/>
            <a:ext cx="54864" cy="365760"/>
          </a:xfrm>
          <a:prstGeom prst="roundRect">
            <a:avLst>
              <a:gd name="adj" fmla="val 13000"/>
            </a:avLst>
          </a:prstGeom>
          <a:solidFill>
            <a:srgbClr val="27C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4128" y="4306824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F4F9FC"/>
                </a:solidFill>
                <a:latin typeface="Aptos"/>
              </a:defRPr>
            </a:pPr>
            <a:r>
              <a:t>Agenda + Meet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5020056"/>
            <a:ext cx="3090672" cy="7498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0">
                <a:solidFill>
                  <a:srgbClr val="97A9C0"/>
                </a:solidFill>
                <a:latin typeface="Aptos"/>
              </a:defRPr>
            </a:pPr>
            <a:r>
              <a:t>Créneaux, événements, liens Meet et suivi des validations.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43984" y="4087368"/>
            <a:ext cx="3639312" cy="1773936"/>
          </a:xfrm>
          <a:prstGeom prst="roundRect">
            <a:avLst>
              <a:gd name="adj" fmla="val 13000"/>
            </a:avLst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645152" y="4315968"/>
            <a:ext cx="54864" cy="365760"/>
          </a:xfrm>
          <a:prstGeom prst="roundRect">
            <a:avLst>
              <a:gd name="adj" fmla="val 13000"/>
            </a:avLst>
          </a:prstGeom>
          <a:solidFill>
            <a:srgbClr val="438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64608" y="4306824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F4F9FC"/>
                </a:solidFill>
                <a:latin typeface="Aptos"/>
              </a:defRPr>
            </a:pPr>
            <a:r>
              <a:t>Multi-actions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18304" y="5020056"/>
            <a:ext cx="3090672" cy="7498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0">
                <a:solidFill>
                  <a:srgbClr val="97A9C0"/>
                </a:solidFill>
                <a:latin typeface="Aptos"/>
              </a:defRPr>
            </a:pPr>
            <a:r>
              <a:t>Exécution de plusieurs demandes à partir d’un seul email.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84464" y="4087368"/>
            <a:ext cx="3639312" cy="1773936"/>
          </a:xfrm>
          <a:prstGeom prst="roundRect">
            <a:avLst>
              <a:gd name="adj" fmla="val 13000"/>
            </a:avLst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485632" y="4315968"/>
            <a:ext cx="54864" cy="365760"/>
          </a:xfrm>
          <a:prstGeom prst="roundRect">
            <a:avLst>
              <a:gd name="adj" fmla="val 13000"/>
            </a:avLst>
          </a:prstGeom>
          <a:solidFill>
            <a:srgbClr val="5ED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05088" y="4306824"/>
            <a:ext cx="302666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F4F9FC"/>
                </a:solidFill>
                <a:latin typeface="Aptos"/>
              </a:defRPr>
            </a:pPr>
            <a:r>
              <a:t>Brouillons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58784" y="5020056"/>
            <a:ext cx="3090672" cy="7498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0">
                <a:solidFill>
                  <a:srgbClr val="97A9C0"/>
                </a:solidFill>
                <a:latin typeface="Aptos"/>
              </a:defRPr>
            </a:pPr>
            <a:r>
              <a:t>Réponse professionnelle, pièces jointes et rapport des livrables.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C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7C9CF"/>
                </a:solidFill>
                <a:latin typeface="Aptos"/>
              </a:defRPr>
            </a:pPr>
            <a:r>
              <a:t>IA NAVA  /  NAVA 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97A9C0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804672"/>
            <a:ext cx="110185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F4F9FC"/>
                </a:solidFill>
                <a:latin typeface="Aptos"/>
              </a:defRPr>
            </a:pPr>
            <a:r>
              <a:t>Orchestration maîtrisée et production de livrables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2704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0">
                <a:solidFill>
                  <a:srgbClr val="97A9C0"/>
                </a:solidFill>
                <a:latin typeface="Aptos"/>
              </a:defRPr>
            </a:pPr>
            <a:r>
              <a:t>Séparation du pilotage métier, de la fabrication des fichiers et des actions externes.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" y="6419088"/>
            <a:ext cx="11018520" cy="10972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" y="6501384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0">
                <a:solidFill>
                  <a:srgbClr val="97A9C0"/>
                </a:solidFill>
                <a:latin typeface="Aptos"/>
              </a:defRPr>
            </a:pPr>
            <a:r>
              <a:t>NAVA MAIL  •  ÉTAT AU 29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0">
                <a:solidFill>
                  <a:srgbClr val="97A9C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40280"/>
            <a:ext cx="3355848" cy="3035808"/>
          </a:xfrm>
          <a:prstGeom prst="roundRect">
            <a:avLst>
              <a:gd name="adj" fmla="val 13000"/>
            </a:avLst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2468880"/>
            <a:ext cx="54864" cy="365760"/>
          </a:xfrm>
          <a:prstGeom prst="roundRect">
            <a:avLst>
              <a:gd name="adj" fmla="val 13000"/>
            </a:avLst>
          </a:prstGeom>
          <a:solidFill>
            <a:srgbClr val="27C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33856" y="2459736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F4F9FC"/>
                </a:solidFill>
                <a:latin typeface="Aptos"/>
              </a:defRPr>
            </a:pPr>
            <a:r>
              <a:t>NAVA Mail / P5–P7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3172968"/>
            <a:ext cx="2807208" cy="2011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0">
                <a:solidFill>
                  <a:srgbClr val="97A9C0"/>
                </a:solidFill>
                <a:latin typeface="Aptos"/>
              </a:defRPr>
            </a:pPr>
            <a:r>
              <a:t>Détecte, planifie, suit les états et compose la réponse à partir des résultats.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2240280"/>
            <a:ext cx="3355848" cy="3035808"/>
          </a:xfrm>
          <a:prstGeom prst="roundRect">
            <a:avLst>
              <a:gd name="adj" fmla="val 13000"/>
            </a:avLst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608576" y="2468880"/>
            <a:ext cx="54864" cy="365760"/>
          </a:xfrm>
          <a:prstGeom prst="roundRect">
            <a:avLst>
              <a:gd name="adj" fmla="val 13000"/>
            </a:avLst>
          </a:prstGeom>
          <a:solidFill>
            <a:srgbClr val="438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28032" y="2459736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F4F9FC"/>
                </a:solidFill>
                <a:latin typeface="Aptos"/>
              </a:defRPr>
            </a:pPr>
            <a:r>
              <a:t>Codex / Livrables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3172968"/>
            <a:ext cx="2807208" cy="2011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0">
                <a:solidFill>
                  <a:srgbClr val="97A9C0"/>
                </a:solidFill>
                <a:latin typeface="Aptos"/>
              </a:defRPr>
            </a:pPr>
            <a:r>
              <a:t>Reçoit les documents sources, produit les fichiers demandés et un rapport d’exécution.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2240280"/>
            <a:ext cx="3355848" cy="3035808"/>
          </a:xfrm>
          <a:prstGeom prst="roundRect">
            <a:avLst>
              <a:gd name="adj" fmla="val 13000"/>
            </a:avLst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84464" y="2468880"/>
            <a:ext cx="54864" cy="365760"/>
          </a:xfrm>
          <a:prstGeom prst="roundRect">
            <a:avLst>
              <a:gd name="adj" fmla="val 13000"/>
            </a:avLst>
          </a:prstGeom>
          <a:solidFill>
            <a:srgbClr val="5ED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0" y="2459736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F4F9FC"/>
                </a:solidFill>
                <a:latin typeface="Aptos"/>
              </a:defRPr>
            </a:pPr>
            <a:r>
              <a:t>Connecteurs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3172968"/>
            <a:ext cx="2807208" cy="2011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0">
                <a:solidFill>
                  <a:srgbClr val="97A9C0"/>
                </a:solidFill>
                <a:latin typeface="Aptos"/>
              </a:defRPr>
            </a:pPr>
            <a:r>
              <a:t>Gmail, Google Agenda/Meet et adaptateurs, sous contrôle des autorisations.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C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7C9CF"/>
                </a:solidFill>
                <a:latin typeface="Aptos"/>
              </a:defRPr>
            </a:pPr>
            <a:r>
              <a:t>IA NAVA  /  NAVA 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97A9C0"/>
                </a:solidFill>
                <a:latin typeface="Aptos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804672"/>
            <a:ext cx="110185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F4F9FC"/>
                </a:solidFill>
                <a:latin typeface="Aptos"/>
              </a:defRPr>
            </a:pPr>
            <a:r>
              <a:t>Rendez-vous : qualité des données et contrôle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2704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0">
                <a:solidFill>
                  <a:srgbClr val="97A9C0"/>
                </a:solidFill>
                <a:latin typeface="Aptos"/>
              </a:defRPr>
            </a:pPr>
            <a:r>
              <a:t>Le format doit provenir du mail reçu, notamment de la signature du correspondant.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" y="6419088"/>
            <a:ext cx="11018520" cy="10972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" y="6501384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0">
                <a:solidFill>
                  <a:srgbClr val="97A9C0"/>
                </a:solidFill>
                <a:latin typeface="Aptos"/>
              </a:defRPr>
            </a:pPr>
            <a:r>
              <a:t>NAVA MAIL  •  ÉTAT AU 29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0">
                <a:solidFill>
                  <a:srgbClr val="97A9C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194560"/>
            <a:ext cx="10881360" cy="1335024"/>
          </a:xfrm>
          <a:prstGeom prst="roundRect">
            <a:avLst>
              <a:gd name="adj" fmla="val 13000"/>
            </a:avLst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101498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4F9FC"/>
                </a:solidFill>
                <a:latin typeface="Aptos"/>
              </a:defRPr>
            </a:pPr>
            <a:r>
              <a:t>Camille Roussel  •  Responsable coordination — Projet Orion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953512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0">
                <a:solidFill>
                  <a:srgbClr val="97A9C0"/>
                </a:solidFill>
                <a:latin typeface="Aptos"/>
              </a:defRPr>
            </a:pPr>
            <a:r>
              <a:t>Exemple de données présentes dans une signature de 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" y="3831336"/>
            <a:ext cx="5230368" cy="1664208"/>
          </a:xfrm>
          <a:prstGeom prst="roundRect">
            <a:avLst>
              <a:gd name="adj" fmla="val 13000"/>
            </a:avLst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8680" y="4059936"/>
            <a:ext cx="54864" cy="365760"/>
          </a:xfrm>
          <a:prstGeom prst="roundRect">
            <a:avLst>
              <a:gd name="adj" fmla="val 13000"/>
            </a:avLst>
          </a:prstGeom>
          <a:solidFill>
            <a:srgbClr val="27C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88136" y="4050792"/>
            <a:ext cx="4617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F4F9FC"/>
                </a:solidFill>
                <a:latin typeface="Aptos"/>
              </a:defRPr>
            </a:pPr>
            <a:r>
              <a:t>Exigence métier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764024"/>
            <a:ext cx="468172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0">
                <a:solidFill>
                  <a:srgbClr val="97A9C0"/>
                </a:solidFill>
                <a:latin typeface="Aptos"/>
              </a:defRPr>
            </a:pPr>
            <a:r>
              <a:t>Conserver l’identité et les coordonnées présentes, sans les inventer ni les reformuler.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08192" y="3831336"/>
            <a:ext cx="5230368" cy="1664208"/>
          </a:xfrm>
          <a:prstGeom prst="roundRect">
            <a:avLst>
              <a:gd name="adj" fmla="val 13000"/>
            </a:avLst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09359" y="4059936"/>
            <a:ext cx="54864" cy="365760"/>
          </a:xfrm>
          <a:prstGeom prst="roundRect">
            <a:avLst>
              <a:gd name="adj" fmla="val 13000"/>
            </a:avLst>
          </a:prstGeom>
          <a:solidFill>
            <a:srgbClr val="F7B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28816" y="4050792"/>
            <a:ext cx="4617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F4F9FC"/>
                </a:solidFill>
                <a:latin typeface="Aptos"/>
              </a:defRPr>
            </a:pPr>
            <a:r>
              <a:t>Vérification réelle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764024"/>
            <a:ext cx="468172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0">
                <a:solidFill>
                  <a:srgbClr val="97A9C0"/>
                </a:solidFill>
                <a:latin typeface="Aptos"/>
              </a:defRPr>
            </a:pPr>
            <a:r>
              <a:t>Lien Meet communiqué uniquement après création et vérification de l’événement ; contrôler invités et données.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C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7C9CF"/>
                </a:solidFill>
                <a:latin typeface="Aptos"/>
              </a:defRPr>
            </a:pPr>
            <a:r>
              <a:t>IA NAVA  /  NAVA 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97A9C0"/>
                </a:solidFill>
                <a:latin typeface="Aptos"/>
              </a:defRPr>
            </a:pPr>
            <a:r>
              <a:t>SÉCURITÉ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804672"/>
            <a:ext cx="110185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F4F9FC"/>
                </a:solidFill>
                <a:latin typeface="Aptos"/>
              </a:defRPr>
            </a:pPr>
            <a:r>
              <a:t>Automatisation encadrée par des preuves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2704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0">
                <a:solidFill>
                  <a:srgbClr val="97A9C0"/>
                </a:solidFill>
                <a:latin typeface="Aptos"/>
              </a:defRPr>
            </a:pPr>
            <a:r>
              <a:t>Le mode Auto peut exécuter et envoyer une réponse complète lorsque les contrôles passent.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" y="6419088"/>
            <a:ext cx="11018520" cy="10972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" y="6501384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0">
                <a:solidFill>
                  <a:srgbClr val="97A9C0"/>
                </a:solidFill>
                <a:latin typeface="Aptos"/>
              </a:defRPr>
            </a:pPr>
            <a:r>
              <a:t>NAVA MAIL  •  ÉTAT AU 29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0">
                <a:solidFill>
                  <a:srgbClr val="97A9C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" y="2267712"/>
            <a:ext cx="3447288" cy="2980944"/>
          </a:xfrm>
          <a:prstGeom prst="roundRect">
            <a:avLst>
              <a:gd name="adj" fmla="val 13000"/>
            </a:avLst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05256" y="2496312"/>
            <a:ext cx="54864" cy="365760"/>
          </a:xfrm>
          <a:prstGeom prst="roundRect">
            <a:avLst>
              <a:gd name="adj" fmla="val 13000"/>
            </a:avLst>
          </a:prstGeom>
          <a:solidFill>
            <a:srgbClr val="27C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2487168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F4F9FC"/>
                </a:solidFill>
                <a:latin typeface="Aptos"/>
              </a:defRPr>
            </a:pPr>
            <a:r>
              <a:t>Emails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00400"/>
            <a:ext cx="2898648" cy="19568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0">
                <a:solidFill>
                  <a:srgbClr val="97A9C0"/>
                </a:solidFill>
                <a:latin typeface="Aptos"/>
              </a:defRPr>
            </a:pPr>
            <a:r>
              <a:t>En mode Auto, envoi possible sans validation manuelle lorsque la réponse est complète et vérifiée.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2267712"/>
            <a:ext cx="3447288" cy="2980944"/>
          </a:xfrm>
          <a:prstGeom prst="roundRect">
            <a:avLst>
              <a:gd name="adj" fmla="val 13000"/>
            </a:avLst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81144" y="2496312"/>
            <a:ext cx="54864" cy="365760"/>
          </a:xfrm>
          <a:prstGeom prst="roundRect">
            <a:avLst>
              <a:gd name="adj" fmla="val 13000"/>
            </a:avLst>
          </a:prstGeom>
          <a:solidFill>
            <a:srgbClr val="438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00600" y="2487168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F4F9FC"/>
                </a:solidFill>
                <a:latin typeface="Aptos"/>
              </a:defRPr>
            </a:pPr>
            <a:r>
              <a:t>Google Agenda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4296" y="3200400"/>
            <a:ext cx="2898648" cy="19568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0">
                <a:solidFill>
                  <a:srgbClr val="97A9C0"/>
                </a:solidFill>
                <a:latin typeface="Aptos"/>
              </a:defRPr>
            </a:pPr>
            <a:r>
              <a:t>Création et vérification réelles ; approbation seulement si un blocage ou une incertitude l’exige.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267712"/>
            <a:ext cx="3447288" cy="2980944"/>
          </a:xfrm>
          <a:prstGeom prst="roundRect">
            <a:avLst>
              <a:gd name="adj" fmla="val 13000"/>
            </a:avLst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47888" y="2496312"/>
            <a:ext cx="54864" cy="365760"/>
          </a:xfrm>
          <a:prstGeom prst="roundRect">
            <a:avLst>
              <a:gd name="adj" fmla="val 13000"/>
            </a:avLst>
          </a:prstGeom>
          <a:solidFill>
            <a:srgbClr val="5ED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67344" y="2487168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F4F9FC"/>
                </a:solidFill>
                <a:latin typeface="Aptos"/>
              </a:defRPr>
            </a:pPr>
            <a:r>
              <a:t>Traçabilité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200400"/>
            <a:ext cx="2898648" cy="19568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0">
                <a:solidFill>
                  <a:srgbClr val="97A9C0"/>
                </a:solidFill>
                <a:latin typeface="Aptos"/>
              </a:defRPr>
            </a:pPr>
            <a:r>
              <a:t>Preuves et journalisation ; les opérations bloquées ou non vérifiables restent en attente.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C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7C9CF"/>
                </a:solidFill>
                <a:latin typeface="Aptos"/>
              </a:defRPr>
            </a:pPr>
            <a:r>
              <a:t>IA NAVA  /  NAVA 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97A9C0"/>
                </a:solidFill>
                <a:latin typeface="Aptos"/>
              </a:defRPr>
            </a:pPr>
            <a:r>
              <a:t>QUALITÉ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804672"/>
            <a:ext cx="110185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F4F9FC"/>
                </a:solidFill>
                <a:latin typeface="Aptos"/>
              </a:defRPr>
            </a:pPr>
            <a:r>
              <a:t>Qualité : résultats et limites connues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2704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0">
                <a:solidFill>
                  <a:srgbClr val="97A9C0"/>
                </a:solidFill>
                <a:latin typeface="Aptos"/>
              </a:defRPr>
            </a:pPr>
            <a:r>
              <a:t>Dernier bilan complet transmis : après cette campagne, d’autres correctifs ont été publiés.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" y="6419088"/>
            <a:ext cx="11018520" cy="10972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" y="6501384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0">
                <a:solidFill>
                  <a:srgbClr val="97A9C0"/>
                </a:solidFill>
                <a:latin typeface="Aptos"/>
              </a:defRPr>
            </a:pPr>
            <a:r>
              <a:t>NAVA MAIL  •  ÉTAT AU 29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0">
                <a:solidFill>
                  <a:srgbClr val="97A9C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313432"/>
            <a:ext cx="3072384" cy="1883664"/>
          </a:xfrm>
          <a:prstGeom prst="roundRect">
            <a:avLst>
              <a:gd name="adj" fmla="val 13000"/>
            </a:avLst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2670048"/>
            <a:ext cx="274320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4100" b="1">
                <a:solidFill>
                  <a:srgbClr val="5ED5A9"/>
                </a:solidFill>
                <a:latin typeface="Aptos"/>
              </a:defRPr>
            </a:pPr>
            <a:r>
              <a:t>4 533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529584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0">
                <a:solidFill>
                  <a:srgbClr val="97A9C0"/>
                </a:solidFill>
                <a:latin typeface="Aptos"/>
              </a:defRPr>
            </a:pPr>
            <a:r>
              <a:t>PASS (bilan fourni)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313432"/>
            <a:ext cx="3072384" cy="1883664"/>
          </a:xfrm>
          <a:prstGeom prst="roundRect">
            <a:avLst>
              <a:gd name="adj" fmla="val 13000"/>
            </a:avLst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28031" y="2670048"/>
            <a:ext cx="274320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4100" b="1">
                <a:solidFill>
                  <a:srgbClr val="F7BE5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1" y="3529584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0">
                <a:solidFill>
                  <a:srgbClr val="97A9C0"/>
                </a:solidFill>
                <a:latin typeface="Aptos"/>
              </a:defRPr>
            </a:pPr>
            <a:r>
              <a:t>FAIL (bilan fourni)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2313432"/>
            <a:ext cx="3072384" cy="1883664"/>
          </a:xfrm>
          <a:prstGeom prst="roundRect">
            <a:avLst>
              <a:gd name="adj" fmla="val 13000"/>
            </a:avLst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85632" y="2670048"/>
            <a:ext cx="274320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4100" b="1">
                <a:solidFill>
                  <a:srgbClr val="27C9CF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3529584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0">
                <a:solidFill>
                  <a:srgbClr val="97A9C0"/>
                </a:solidFill>
                <a:latin typeface="Aptos"/>
              </a:defRPr>
            </a:pPr>
            <a:r>
              <a:t>sous-tests PASS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709160"/>
            <a:ext cx="10588752" cy="731520"/>
          </a:xfrm>
          <a:prstGeom prst="roundRect">
            <a:avLst>
              <a:gd name="adj" fmla="val 13000"/>
            </a:avLst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6696" y="4937760"/>
            <a:ext cx="100584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0">
                <a:solidFill>
                  <a:srgbClr val="F4F9FC"/>
                </a:solidFill>
                <a:latin typeface="Aptos"/>
              </a:defRPr>
            </a:pPr>
            <a:r>
              <a:t>Les deux échecs concernaient le format Agenda ; des correctifs ultérieurs ont été apportés.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967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0">
                <a:solidFill>
                  <a:srgbClr val="F7BE5E"/>
                </a:solidFill>
                <a:latin typeface="Aptos"/>
              </a:defRPr>
            </a:pPr>
            <a:r>
              <a:t>Aucun nouveau total PASS intégral vérifié après ces correctifs ; certification E2E encore nécessaire.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C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7C9CF"/>
                </a:solidFill>
                <a:latin typeface="Aptos"/>
              </a:defRPr>
            </a:pPr>
            <a:r>
              <a:t>IA NAVA  /  NAVA 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97A9C0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804672"/>
            <a:ext cx="110185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F4F9FC"/>
                </a:solidFill>
                <a:latin typeface="Aptos"/>
              </a:defRPr>
            </a:pPr>
            <a:r>
              <a:t>Certification de bout en bout à finaliser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2704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0">
                <a:solidFill>
                  <a:srgbClr val="97A9C0"/>
                </a:solidFill>
                <a:latin typeface="Aptos"/>
              </a:defRPr>
            </a:pPr>
            <a:r>
              <a:t>Tester depuis l’interface réelle les modes Auto et supervisé, avec leurs protections respectives.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" y="6419088"/>
            <a:ext cx="11018520" cy="10972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" y="6501384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0">
                <a:solidFill>
                  <a:srgbClr val="97A9C0"/>
                </a:solidFill>
                <a:latin typeface="Aptos"/>
              </a:defRPr>
            </a:pPr>
            <a:r>
              <a:t>NAVA MAIL  •  ÉTAT AU 29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0">
                <a:solidFill>
                  <a:srgbClr val="97A9C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" y="2084831"/>
            <a:ext cx="10789920" cy="804672"/>
          </a:xfrm>
          <a:prstGeom prst="roundRect">
            <a:avLst>
              <a:gd name="adj" fmla="val 13000"/>
            </a:avLst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295144"/>
            <a:ext cx="5029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7C9C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249424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4F9FC"/>
                </a:solidFill>
                <a:latin typeface="Aptos"/>
              </a:defRPr>
            </a:pPr>
            <a:r>
              <a:t>Exécution depuis l’interface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67712"/>
            <a:ext cx="6583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0">
                <a:solidFill>
                  <a:srgbClr val="97A9C0"/>
                </a:solidFill>
                <a:latin typeface="Aptos"/>
              </a:defRPr>
            </a:pPr>
            <a:r>
              <a:t>Rejouer un email multitâche sur le contrôleur réel.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" y="3044952"/>
            <a:ext cx="10789920" cy="804672"/>
          </a:xfrm>
          <a:prstGeom prst="roundRect">
            <a:avLst>
              <a:gd name="adj" fmla="val 13000"/>
            </a:avLst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3255264"/>
            <a:ext cx="5029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7C9C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209544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4F9FC"/>
                </a:solidFill>
                <a:latin typeface="Aptos"/>
              </a:defRPr>
            </a:pPr>
            <a:r>
              <a:t>Livrables et brouillon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227832"/>
            <a:ext cx="6583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0">
                <a:solidFill>
                  <a:srgbClr val="97A9C0"/>
                </a:solidFill>
                <a:latin typeface="Aptos"/>
              </a:defRPr>
            </a:pPr>
            <a:r>
              <a:t>Vérifier les fichiers, le rapport et toutes les demandes.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" y="4005072"/>
            <a:ext cx="10789920" cy="804672"/>
          </a:xfrm>
          <a:prstGeom prst="roundRect">
            <a:avLst>
              <a:gd name="adj" fmla="val 13000"/>
            </a:avLst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4215384"/>
            <a:ext cx="5029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7C9C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4169663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4F9FC"/>
                </a:solidFill>
                <a:latin typeface="Aptos"/>
              </a:defRPr>
            </a:pPr>
            <a:r>
              <a:t>Rendez-vous Google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187952"/>
            <a:ext cx="6583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0">
                <a:solidFill>
                  <a:srgbClr val="97A9C0"/>
                </a:solidFill>
                <a:latin typeface="Aptos"/>
              </a:defRPr>
            </a:pPr>
            <a:r>
              <a:t>Contrôler le format exact, les invités, le lien Meet et les états.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" y="4965192"/>
            <a:ext cx="10789920" cy="804672"/>
          </a:xfrm>
          <a:prstGeom prst="roundRect">
            <a:avLst>
              <a:gd name="adj" fmla="val 13000"/>
            </a:avLst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5175504"/>
            <a:ext cx="5029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7C9C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5129783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4F9FC"/>
                </a:solidFill>
                <a:latin typeface="Aptos"/>
              </a:defRPr>
            </a:pPr>
            <a:r>
              <a:t>Non-régression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5148072"/>
            <a:ext cx="6583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0">
                <a:solidFill>
                  <a:srgbClr val="97A9C0"/>
                </a:solidFill>
                <a:latin typeface="Aptos"/>
              </a:defRPr>
            </a:pPr>
            <a:r>
              <a:t>Relancer la suite entière après les derniers changements.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C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7C9CF"/>
                </a:solidFill>
                <a:latin typeface="Aptos"/>
              </a:defRPr>
            </a:pPr>
            <a:r>
              <a:t>IA NAVA  /  NAVA 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97A9C0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804672"/>
            <a:ext cx="110185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F4F9FC"/>
                </a:solidFill>
                <a:latin typeface="Aptos"/>
              </a:defRPr>
            </a:pPr>
            <a:r>
              <a:t>Démonstrateur fonctionnel en cours de certification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2704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0">
                <a:solidFill>
                  <a:srgbClr val="97A9C0"/>
                </a:solidFill>
                <a:latin typeface="Aptos"/>
              </a:defRPr>
            </a:pPr>
            <a:r>
              <a:t>Les fonctions et l’automatisation progressent ; la certification réelle reste à finaliser.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" y="6419088"/>
            <a:ext cx="11018520" cy="10972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" y="6501384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0">
                <a:solidFill>
                  <a:srgbClr val="97A9C0"/>
                </a:solidFill>
                <a:latin typeface="Aptos"/>
              </a:defRPr>
            </a:pPr>
            <a:r>
              <a:t>NAVA MAIL  •  ÉTAT AU 29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0">
                <a:solidFill>
                  <a:srgbClr val="97A9C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377440"/>
            <a:ext cx="9144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300" b="1">
                <a:solidFill>
                  <a:srgbClr val="F4F9FC"/>
                </a:solidFill>
                <a:latin typeface="Aptos"/>
              </a:defRPr>
            </a:pPr>
            <a:r>
              <a:t>Une interface unique.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3154680"/>
            <a:ext cx="9144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300" b="1">
                <a:solidFill>
                  <a:srgbClr val="F4F9FC"/>
                </a:solidFill>
                <a:latin typeface="Aptos"/>
              </a:defRPr>
            </a:pPr>
            <a:r>
              <a:t>Des actions traçables.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3950208"/>
            <a:ext cx="103327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900" b="1">
                <a:solidFill>
                  <a:srgbClr val="27C9CF"/>
                </a:solidFill>
                <a:latin typeface="Aptos"/>
              </a:defRPr>
            </a:pPr>
            <a:r>
              <a:t>Validation humaine seulement pour les opérations bloquées ou non vérifiables.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" y="5577840"/>
            <a:ext cx="3255264" cy="347472"/>
          </a:xfrm>
          <a:prstGeom prst="roundRect">
            <a:avLst>
              <a:gd name="adj" fmla="val 13000"/>
            </a:avLst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9264" y="5646420"/>
            <a:ext cx="3035808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5ED5A9"/>
                </a:solidFill>
                <a:latin typeface="Aptos"/>
              </a:defRPr>
            </a:pPr>
            <a:r>
              <a:t>OBJECTIF : CERTIFICATION DE BOUT EN BOUT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813</Words>
  <Application>Microsoft Office PowerPoint</Application>
  <PresentationFormat>Grand écran</PresentationFormat>
  <Paragraphs>138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Nicolas NAVA</cp:lastModifiedBy>
  <cp:revision>2</cp:revision>
  <dcterms:created xsi:type="dcterms:W3CDTF">2013-01-27T09:14:16Z</dcterms:created>
  <dcterms:modified xsi:type="dcterms:W3CDTF">2026-10-29T10:45:33Z</dcterms:modified>
  <cp:category/>
</cp:coreProperties>
</file>